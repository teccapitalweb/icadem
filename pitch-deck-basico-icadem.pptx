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E9A6"/>
                </a:solidFill>
              </a:rPr>
              <a:t>PLANTILLA PREMIUM · ICADEM VIP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Pitch Deck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Básico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749808" y="2852928"/>
            <a:ext cx="1463040" cy="0"/>
          </a:xfrm>
          <a:prstGeom prst="line">
            <a:avLst/>
          </a:prstGeom>
          <a:noFill/>
          <a:ln w="44450">
            <a:solidFill>
              <a:srgbClr val="F4C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13639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6E2FF"/>
                </a:solidFill>
              </a:rPr>
              <a:t>Presentación editable de 12 slides investor-ready para mostrar problema, solución, mercado, modelo de negocio, tracción, equipo y ronda de inversión.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4663440"/>
            <a:ext cx="3108960" cy="283464"/>
          </a:xfrm>
          <a:prstGeom prst="rect">
            <a:avLst/>
          </a:prstGeom>
          <a:solidFill>
            <a:srgbClr val="F4C542"/>
          </a:solidFill>
          <a:ln>
            <a:solidFill>
              <a:srgbClr val="F4C54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A3A"/>
                </a:solidFill>
              </a:rPr>
              <a:t>Nombre de la empresa / startup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46920" y="530352"/>
            <a:ext cx="1325880" cy="411480"/>
          </a:xfrm>
          <a:prstGeom prst="rect">
            <a:avLst/>
          </a:prstGeom>
          <a:solidFill>
            <a:srgbClr val="0B2A5B"/>
          </a:solidFill>
          <a:ln>
            <a:solidFill>
              <a:srgbClr val="FFE9A6">
                <a:alpha val="9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9A6"/>
                </a:solidFill>
              </a:rPr>
              <a:t>[LOGO]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59710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1A9D8"/>
                </a:solidFill>
              </a:rPr>
              <a:t>Uso sugerido: reemplaza todos los textos entre corchetes y conserva la estructura para mantener una narrativa clara y profesional.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7406640" y="1143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INVESTOR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0" y="2331720"/>
            <a:ext cx="2286000" cy="320040"/>
          </a:xfrm>
          <a:prstGeom prst="rect">
            <a:avLst/>
          </a:prstGeom>
          <a:solidFill>
            <a:srgbClr val="F4C542"/>
          </a:solidFill>
          <a:ln>
            <a:solidFill>
              <a:srgbClr val="F4C542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A"/>
                </a:solidFill>
              </a:rPr>
              <a:t>12 SLIDES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16368" y="2944368"/>
            <a:ext cx="1463040" cy="310896"/>
          </a:xfrm>
          <a:prstGeom prst="rect">
            <a:avLst/>
          </a:prstGeom>
          <a:solidFill>
            <a:srgbClr val="0B2A5B"/>
          </a:solidFill>
          <a:ln>
            <a:solidFill>
              <a:srgbClr val="244A8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FF"/>
                </a:solidFill>
              </a:rPr>
              <a:t>Problema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299448" y="2944368"/>
            <a:ext cx="1463040" cy="310896"/>
          </a:xfrm>
          <a:prstGeom prst="rect">
            <a:avLst/>
          </a:prstGeom>
          <a:solidFill>
            <a:srgbClr val="0B2A5B"/>
          </a:solidFill>
          <a:ln>
            <a:solidFill>
              <a:srgbClr val="244A8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FF"/>
                </a:solidFill>
              </a:rPr>
              <a:t>Solución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16368" y="3538728"/>
            <a:ext cx="1463040" cy="310896"/>
          </a:xfrm>
          <a:prstGeom prst="rect">
            <a:avLst/>
          </a:prstGeom>
          <a:solidFill>
            <a:srgbClr val="0B2A5B"/>
          </a:solidFill>
          <a:ln>
            <a:solidFill>
              <a:srgbClr val="244A8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FF"/>
                </a:solidFill>
              </a:rPr>
              <a:t>Mercado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299448" y="3538728"/>
            <a:ext cx="1463040" cy="310896"/>
          </a:xfrm>
          <a:prstGeom prst="rect">
            <a:avLst/>
          </a:prstGeom>
          <a:solidFill>
            <a:srgbClr val="0B2A5B"/>
          </a:solidFill>
          <a:ln>
            <a:solidFill>
              <a:srgbClr val="244A8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FF"/>
                </a:solidFill>
              </a:rPr>
              <a:t>Modelo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16368" y="4133088"/>
            <a:ext cx="1463040" cy="310896"/>
          </a:xfrm>
          <a:prstGeom prst="rect">
            <a:avLst/>
          </a:prstGeom>
          <a:solidFill>
            <a:srgbClr val="0B2A5B"/>
          </a:solidFill>
          <a:ln>
            <a:solidFill>
              <a:srgbClr val="244A8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FF"/>
                </a:solidFill>
              </a:rPr>
              <a:t>Tracción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299448" y="4133088"/>
            <a:ext cx="1463040" cy="310896"/>
          </a:xfrm>
          <a:prstGeom prst="rect">
            <a:avLst/>
          </a:prstGeom>
          <a:solidFill>
            <a:srgbClr val="0B2A5B"/>
          </a:solidFill>
          <a:ln>
            <a:solidFill>
              <a:srgbClr val="244A8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FF"/>
                </a:solidFill>
              </a:rPr>
              <a:t>Finanzas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Define el dolor real, quién lo vive y por qué vale la pena resolverlo.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debes demostrar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El inversionista debe entender en menos de 60 segundos que el problema existe, es relevante y tiene impacto económico o operativo.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325880"/>
            <a:ext cx="229819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afectado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[Segmento que sufre el problema]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1399032"/>
            <a:ext cx="2023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CLIENTE AFECTADO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94704" y="1325880"/>
            <a:ext cx="229819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Dolor principal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[Qué le cuesta dinero, tiempo o crecimiento]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1864" y="1399032"/>
            <a:ext cx="2023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DOLOR PRINCIPAL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03208" y="1325880"/>
            <a:ext cx="229819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Consecuencia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[Qué pasa si no se resuelve]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40368" y="1399032"/>
            <a:ext cx="2023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CONSECUENCIA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86200" y="2788920"/>
            <a:ext cx="352044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del problema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[Dato, encuesta o validación]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[Testimonio o caso]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[Frecuencia del dolor]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[Costo aproximado del problema]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2862072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EVIDENCIA DEL PROBLEMA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80960" y="2788920"/>
            <a:ext cx="3520440" cy="2423160"/>
          </a:xfrm>
          <a:prstGeom prst="rect">
            <a:avLst/>
          </a:prstGeom>
          <a:solidFill>
            <a:srgbClr val="FFF9E7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de impacto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“[En una frase, explica por qué este problema es urgente y relevante para el mercado]”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18120" y="2862072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C542"/>
                </a:solidFill>
              </a:rPr>
              <a:t>FRASE DE IMPACTO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Nuestra solución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Explica de forma clara qué haces, cómo funciona y qué resultado obtiene el cliente.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de valor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vendas características: comunica transformación, resultado y claridad.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7223760" cy="868680"/>
          </a:xfrm>
          <a:prstGeom prst="rect">
            <a:avLst/>
          </a:prstGeom>
          <a:solidFill>
            <a:srgbClr val="FFF9E7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 en una línea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[Nombre de tu solución] ayuda a [cliente] a lograr [resultado] mediante [mecanismo diferencial].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1399032"/>
            <a:ext cx="6949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C542"/>
                </a:solidFill>
              </a:rPr>
              <a:t>SOLUCIÓN EN UNA LÍNEA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0" y="2487168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funciona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[Paso 1 → Paso 2 → Paso 3]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256032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CÓMO FUNCIONA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18504" y="2487168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 clave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[Ahorro, crecimiento, control o velocidad]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55664" y="256032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BENEFICIO CLAVE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796528" y="2487168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[Qué lo hace difícil de copiar]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33688" y="256032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DIFERENCIAL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0" y="3977640"/>
            <a:ext cx="34290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[Situación actual del cliente: procesos manuales, errores, pérdida de tiempo, baja visibilidad]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405079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ANTES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35240" y="3977640"/>
            <a:ext cx="34290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[Nuevo escenario: control, automatización, métricas, ahorro y mejor toma de decisiones]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05079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DESPUÉS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Mercado objetivo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Dimensiona el mercado y demuestra que existe una oportunidad atractiva.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esperada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Usa números simples: mercado total, segmento atendible y primeros clientes objetivo.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[Mercado total disponible]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Ej. $___ MXN/año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TAM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18504" y="1325880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[Mercado que puedes atender]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Ej. $___ MXN/año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SAM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96528" y="1325880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[Mercado capturable inicial]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Ej. ___ clientes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33688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SOM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2761488"/>
            <a:ext cx="342900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cliente ideal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Sector: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Tamaño: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Dolor: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Presupuesto: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Decisor: [ 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2834640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PERFIL DE CLIENTE IDEAL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35240" y="2761488"/>
            <a:ext cx="3429000" cy="2240280"/>
          </a:xfrm>
          <a:prstGeom prst="rect">
            <a:avLst/>
          </a:prstGeom>
          <a:solidFill>
            <a:srgbClr val="FFF9E7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Tendencias que impulsan la oportunidad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[Digitalización]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[Regulación o cambios de mercado]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[Eficiencia operativa]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[Nueva demanda del consumidor]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834640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C542"/>
                </a:solidFill>
              </a:rPr>
              <a:t>TENDENCIAS QUE IMPULSAN LA OPORTUNIDAD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 / Servicio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Muestra lo que ya existe o lo que se está construyendo y por qué es valioso.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Enfoque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Presenta módulos, flujo de uso y beneficios concretos. Evita detalles técnicos excesivos.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36576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general del producto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[Inserta aquí captura, mockup o descripción del producto]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Módulos principales: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[Módulo]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[Módulo]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[Módulo]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39903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VISTA GENERAL DEL PRODUCTO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18120" y="1325880"/>
            <a:ext cx="329184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Beneficios medibles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[Reduce ___%]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[Ahorra ___ horas]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[Incrementa ___%]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139903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BENEFICIOS MEDIBLES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18120" y="2816352"/>
            <a:ext cx="3291840" cy="1527048"/>
          </a:xfrm>
          <a:prstGeom prst="rect">
            <a:avLst/>
          </a:prstGeom>
          <a:solidFill>
            <a:srgbClr val="EEF4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cercano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Próximos 90 días: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[Funcionalidad 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[Funcionalidad 2]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[Integración o mejora]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288950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ROADMAP CERCANO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negocio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Explica cómo generas ingresos, cuánto cobras y cómo escala el negocio.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clave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¿Cómo gana dinero la empresa y qué tan repetible es el modelo?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226771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de ingresos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[Suscripción, licencia, comisión, servicio, marketplace]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FUENTE DE INGRESOS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18504" y="1325880"/>
            <a:ext cx="226771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 / ticket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[Plan mensual, anual, implementación o fee promedio]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PRECIO / TICKET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96528" y="1325880"/>
            <a:ext cx="226771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económica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[Costo de adquirir cliente vs valor generado]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33688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UNIDAD ECONÓMICA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2743200"/>
            <a:ext cx="347472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Planes o paquetes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Básico: $___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Pro: $___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Enterprise: $___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Incluye: [beneficios por nivel]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281635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PLANES O PAQUETES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62672" y="2743200"/>
            <a:ext cx="3474720" cy="2240280"/>
          </a:xfrm>
          <a:prstGeom prst="rect">
            <a:avLst/>
          </a:prstGeom>
          <a:solidFill>
            <a:srgbClr val="FFF9E7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crecimiento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[Canal principal de adquisición]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[Retención / recurrencia]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[Upsell o expansión]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[Alianzas estratégicas]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9832" y="281635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C542"/>
                </a:solidFill>
              </a:rPr>
              <a:t>MOTOR DE CRECIMIENTO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Demuestra señales reales de avance: clientes, ingresos, usuarios, pilotos o validación.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da confianza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Incluye métricas actuales y aprendizajes. Si aún no hay ingresos, usa pilotos, pruebas, cartas de intención o lista de espera.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/ usuarios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[___ clientes activos / ___ usuarios]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CLIENTES / USUARIOS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18504" y="1325880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[$___ MRR / ventas acumuladas]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INGRESOS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96528" y="1325880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Crecimiento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[___% mensual / ___ leads]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33688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CRECIMIENTO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2788920"/>
            <a:ext cx="342900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Hitos logrados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[MVP lanzado]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[Primeros clientes]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[Alianza relevante]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[Validación de mercado]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[Caso de éxito]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286207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HITOS LOGRADOS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35240" y="2788920"/>
            <a:ext cx="3429000" cy="2194560"/>
          </a:xfrm>
          <a:prstGeom prst="rect">
            <a:avLst/>
          </a:prstGeom>
          <a:solidFill>
            <a:srgbClr val="FFF9E7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Próximos hitos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[Meta de clientes]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[Meta de ingresos]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[Lanzamiento]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[Expansión]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[Contratación clave]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86207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C542"/>
                </a:solidFill>
              </a:rPr>
              <a:t>PRÓXIMOS HITOS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Estrategia comercial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Describe cómo consigues clientes y conviertes oportunidades en ventas.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 con método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El inversionista busca entender si la adquisición de clientes es clara, medible y escalable.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342900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 de adquisición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[WhatsApp / redes]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[Ads]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[Alianzas]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[Ventas B2B]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[Contenido / SEO]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3990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CANALES DE ADQUISICIÓN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35240" y="1325880"/>
            <a:ext cx="3429000" cy="2057400"/>
          </a:xfrm>
          <a:prstGeom prst="rect">
            <a:avLst/>
          </a:prstGeom>
          <a:solidFill>
            <a:srgbClr val="EEF4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venta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→ Diagnóstico → Propuesta → Negociación → Cierre → Onboarding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13990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PROCESO DE VENTA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0" y="3749040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 estimado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[$___ por cliente]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77640" y="382219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CAC ESTIMADO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18504" y="3749040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de venta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[___ días promedio]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55664" y="382219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CICLO DE VENTA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796528" y="3749040"/>
            <a:ext cx="226771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comercial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[___ clientes / $___ ventas]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33688" y="382219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META COMERCIAL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Competencia y diferenciación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Ubica tu alternativa frente a competidores directos e indirectos.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Diferenciación real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digas “no tenemos competencia”. Muestra por qué tu solución gana en un segmento específico.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342900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Competidores / alternativas actuales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[Competidor A]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[Competidor B]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[Solución manual]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[Herramienta genérica]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3990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COMPETIDORES / ALTERNATIVAS ACTUALES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35240" y="1325880"/>
            <a:ext cx="3429000" cy="1920240"/>
          </a:xfrm>
          <a:prstGeom prst="rect">
            <a:avLst/>
          </a:prstGeom>
          <a:solidFill>
            <a:srgbClr val="FFF9E7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ventaja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[Especialización]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[Precio / acceso]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[Velocidad de implementación]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[Experiencia de usuario]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[Soporte]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13990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C542"/>
                </a:solidFill>
              </a:rPr>
              <a:t>NUESTRA VENTAJA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0" y="3657600"/>
            <a:ext cx="722376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Posicionamiento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Somos la opción para [tipo de cliente] que necesita [resultado], a diferencia de [alternativa], porque ofrecemos [diferencial medible].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3730752"/>
            <a:ext cx="6949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POSICIONAMIENTO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Presenta al equipo fundador y por qué son las personas correctas para ejecutar.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Credibilidad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Conecta experiencia, roles y capacidad de ejecución. Incluye asesores si fortalecen la historia.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2267712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/ CEO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[Nombre]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Rol: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Experiencia: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Logro clave: [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FOUNDER / CEO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18504" y="1325880"/>
            <a:ext cx="2267712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Co-founder / COO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[Nombre]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Rol: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Experiencia: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Logro clave: [ 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CO-FOUNDER / COO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96528" y="1325880"/>
            <a:ext cx="2267712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/ Producto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[Nombre]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Rol: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Experiencia: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Logro clave: [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33688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TECH / PRODUCTO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3794760"/>
            <a:ext cx="7223760" cy="1143000"/>
          </a:xfrm>
          <a:prstGeom prst="rect">
            <a:avLst/>
          </a:prstGeom>
          <a:solidFill>
            <a:srgbClr val="FFF9E7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Advisors / aliados clave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[Nombre / institución / experiencia relevante] · [Cómo aporta al crecimiento, operación, ventas o tecnología]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3867912"/>
            <a:ext cx="6949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C542"/>
                </a:solidFill>
              </a:rPr>
              <a:t>ADVISORS / ALIADOS CLAVE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Finanzas y proyecciones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Resume el comportamiento esperado de ingresos, costos y rentabilidad.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mínimo esperado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Muestra supuestos simples y coherentes. Es mejor ser claro que exagerado.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226771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Ingresos Año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[$___]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INGRESOS AÑO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18504" y="1325880"/>
            <a:ext cx="226771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Margen bruto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[___%]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MARGEN BRUTO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96528" y="1325880"/>
            <a:ext cx="226771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equilibrio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[Mes ___ / $___]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33688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PUNTO DE EQUILIBRIO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2743200"/>
            <a:ext cx="342900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Supuestos principales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Ticket promedio: $___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Clientes nuevos/mes: 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Retención: ___%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Costo variable: ___%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Equipo inicial: ___ personas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281635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SUPUESTOS PRINCIPALES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35240" y="2743200"/>
            <a:ext cx="3429000" cy="2057400"/>
          </a:xfrm>
          <a:prstGeom prst="rect">
            <a:avLst/>
          </a:prstGeom>
          <a:solidFill>
            <a:srgbClr val="EEF4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 métricas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en anexos una tabla editable con proyección mensual: ingresos, costos, gastos, EBITDA, flujo y caja final.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81635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USO DE MÉTRICAS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47472"/>
            <a:ext cx="402336" cy="228600"/>
          </a:xfrm>
          <a:prstGeom prst="rect">
            <a:avLst/>
          </a:prstGeom>
          <a:solidFill>
            <a:srgbClr val="FFE9A6"/>
          </a:solidFill>
          <a:ln>
            <a:solidFill>
              <a:srgbClr val="F4C542">
                <a:alpha val="7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4128" y="256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Ronda de inversión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24128" y="6766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Cierra con una solicitud clara: cuánto buscas, para qué se usará y qué se logrará.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11173968" cy="0"/>
          </a:xfrm>
          <a:prstGeom prst="line">
            <a:avLst/>
          </a:prstGeom>
          <a:noFill/>
          <a:ln w="762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24128"/>
            <a:ext cx="1188720" cy="0"/>
          </a:xfrm>
          <a:prstGeom prst="line">
            <a:avLst/>
          </a:prstGeom>
          <a:noFill/>
          <a:ln w="31750">
            <a:solidFill>
              <a:srgbClr val="F4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64373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8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BÁSICO · ICADEM VIP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28832" y="6327648"/>
            <a:ext cx="457200" cy="228600"/>
          </a:xfrm>
          <a:prstGeom prst="rect">
            <a:avLst/>
          </a:prstGeom>
          <a:solidFill>
            <a:srgbClr val="FFE9A6">
              <a:alpha val="94000"/>
            </a:srgbClr>
          </a:solidFill>
          <a:ln>
            <a:solidFill>
              <a:srgbClr val="E5C76C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fuerte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 ronda debe conectar capital solicitado con hitos concretos de crecimiento.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1188720"/>
            <a:ext cx="18288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226771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buscado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[$___ MXN / USD]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CAPITAL BUSCADO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18504" y="1325880"/>
            <a:ext cx="226771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ronda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[Pre-seed / Seed / Nota convertible]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TIPO DE RONDA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96528" y="1325880"/>
            <a:ext cx="226771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Runway estimado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[___ meses]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33688" y="13990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RUNWAY ESTIMADO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2743200"/>
            <a:ext cx="342900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 fondos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Producto / tecnología: ___%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Ventas y marketing: ___%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Operación y talento: ___%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/ administración: ___%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281635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5BD7"/>
                </a:solidFill>
              </a:rPr>
              <a:t>USO DE FONDOS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35240" y="2743200"/>
            <a:ext cx="3429000" cy="2057400"/>
          </a:xfrm>
          <a:prstGeom prst="rect">
            <a:avLst/>
          </a:prstGeom>
          <a:solidFill>
            <a:srgbClr val="FFF9E7"/>
          </a:solidFill>
          <a:ln w="10160">
            <a:solidFill>
              <a:srgbClr val="D8E2F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Hitos a lograr con la inversión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[___ clientes]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[$___ MRR]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[Lanzamiento de módulo]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[Expansión a nuevo mercado]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[Equipo clave contratado]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81635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C542"/>
                </a:solidFill>
              </a:rPr>
              <a:t>HITOS A LOGRAR CON LA INVERSIÓN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0" y="51663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3A"/>
                </a:solidFill>
              </a:rPr>
              <a:t>Contacto: [nombre@empresa.com] · [sitio web] · [teléfono]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ICADEM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 Básico Premium ICADEM</dc:title>
  <dc:subject>Pitch Deck Básico - plantilla editable investor-ready</dc:subject>
  <dc:creator>ICADEM</dc:creator>
  <cp:lastModifiedBy>ICADEM</cp:lastModifiedBy>
  <cp:revision>1</cp:revision>
  <dcterms:created xsi:type="dcterms:W3CDTF">2026-05-11T22:00:58Z</dcterms:created>
  <dcterms:modified xsi:type="dcterms:W3CDTF">2026-05-11T22:00:58Z</dcterms:modified>
</cp:coreProperties>
</file>